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F7691F-B026-49A2-8D5C-FD015D750C43}">
  <a:tblStyle styleId="{D2F7691F-B026-49A2-8D5C-FD015D750C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ff727b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bff727b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3cd767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a3cd767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bff727b0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bff727b0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ff727b0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bff727b0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a3cd7673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a3cd7673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3cd7673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a3cd7673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bff727b0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bff727b0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bff727b01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bff727b0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d43fee2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d43fee2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3cd7673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a3cd7673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a3cd7673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a3cd7673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a3cd7673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a3cd7673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a3cd7673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a3cd7673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a3cd7673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a3cd7673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a3cd7673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a3cd7673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9c0e456b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c9c0e456b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a3cd7673f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a3cd7673f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a3cd7673f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a3cd7673f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a3cd7673f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da3cd7673f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a3cd7673f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a3cd7673f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a3cd7673f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a3cd7673f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a3cd7673f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a3cd7673f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a3cd7673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a3cd7673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d4dd9da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d4dd9da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a3cd7673f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da3cd7673f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a3cd7673f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a3cd7673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a3cd7673f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a3cd7673f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a7fc9c592_1_3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ca7fc9c592_1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hyperlink" Target="https://colab.research.google.com/drive/1H5-OGz_7dvNSNrNj043xwf0szROpBjAV#scrollTo=2243503a&amp;line=12&amp;uniqifier=1" TargetMode="External"/><Relationship Id="rId6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drive/1H5-OGz_7dvNSNrNj043xwf0szROpBjAV#scrollTo=93721b91&amp;line=27&amp;uniqifier=1" TargetMode="External"/><Relationship Id="rId5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drive/1H5-OGz_7dvNSNrNj043xwf0szROpBjAV#scrollTo=85991f22&amp;line=113&amp;uniqifier=1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hyperlink" Target="https://colab.research.google.com/drive/1H5-OGz_7dvNSNrNj043xwf0szROpBjAV#scrollTo=fa9b6d19&amp;line=48&amp;uniqifier=1" TargetMode="External"/><Relationship Id="rId6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hyperlink" Target="https://colab.research.google.com/drive/1H5-OGz_7dvNSNrNj043xwf0szROpBjAV#scrollTo=fa9b6d19&amp;line=48&amp;uniqifier=1" TargetMode="External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hyperlink" Target="https://colab.research.google.com/drive/1H5-OGz_7dvNSNrNj043xwf0szROpBjAV#scrollTo=fa9b6d19&amp;line=48&amp;uniqifier=1" TargetMode="External"/><Relationship Id="rId6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aaa7665a&amp;line=9&amp;uniqifier=1" TargetMode="External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hyperlink" Target="https://colab.research.google.com/drive/1H5-OGz_7dvNSNrNj043xwf0szROpBjAV#scrollTo=aaa7665a&amp;line=9&amp;uniqifier=1" TargetMode="External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hyperlink" Target="https://colab.research.google.com/drive/1H5-OGz_7dvNSNrNj043xwf0szROpBjAV#scrollTo=aaa7665a&amp;line=9&amp;uniqifier=1" TargetMode="External"/><Relationship Id="rId6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hyperlink" Target="https://colab.research.google.com/drive/1H5-OGz_7dvNSNrNj043xwf0szROpBjAV#scrollTo=e5bd986c&amp;line=25&amp;uniqifier=1" TargetMode="External"/><Relationship Id="rId6" Type="http://schemas.openxmlformats.org/officeDocument/2006/relationships/image" Target="../media/image25.png"/><Relationship Id="rId7" Type="http://schemas.openxmlformats.org/officeDocument/2006/relationships/hyperlink" Target="https://colab.research.google.com/drive/1H5-OGz_7dvNSNrNj043xwf0szROpBjAV#scrollTo=e5bd986c&amp;line=25&amp;uniqifier=1" TargetMode="External"/><Relationship Id="rId8" Type="http://schemas.openxmlformats.org/officeDocument/2006/relationships/hyperlink" Target="https://colab.research.google.com/drive/1H5-OGz_7dvNSNrNj043xwf0szROpBjAV#scrollTo=e5bd986c&amp;line=25&amp;uniqifier=1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19b619da&amp;line=43&amp;uniqifier=1" TargetMode="External"/><Relationship Id="rId5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f3d4b862&amp;line=56&amp;uniqifier=1" TargetMode="External"/><Relationship Id="rId5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ff42521b&amp;line=13&amp;uniqifier=1" TargetMode="External"/><Relationship Id="rId5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98a1df57&amp;line=75&amp;uniqifier=1" TargetMode="External"/><Relationship Id="rId5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hyperlink" Target="https://colab.research.google.com/drive/1H5-OGz_7dvNSNrNj043xwf0szROpBjAV#scrollTo=a4779fa3&amp;line=26&amp;uniqifier=1" TargetMode="External"/><Relationship Id="rId7" Type="http://schemas.openxmlformats.org/officeDocument/2006/relationships/image" Target="../media/image56.png"/><Relationship Id="rId8" Type="http://schemas.openxmlformats.org/officeDocument/2006/relationships/hyperlink" Target="https://colab.research.google.com/drive/1H5-OGz_7dvNSNrNj043xwf0szROpBjAV#scrollTo=a4779fa3&amp;line=26&amp;uniqifier=1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682c1f9a&amp;line=7&amp;uniqifier=1" TargetMode="External"/><Relationship Id="rId10" Type="http://schemas.openxmlformats.org/officeDocument/2006/relationships/image" Target="../media/image38.png"/><Relationship Id="rId9" Type="http://schemas.openxmlformats.org/officeDocument/2006/relationships/image" Target="../media/image47.png"/><Relationship Id="rId5" Type="http://schemas.openxmlformats.org/officeDocument/2006/relationships/image" Target="../media/image5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H5-OGz_7dvNSNrNj043xwf0szROpBjAV#scrollTo=8b8370d3&amp;line=30&amp;uniqifier=1" TargetMode="External"/><Relationship Id="rId5" Type="http://schemas.openxmlformats.org/officeDocument/2006/relationships/image" Target="../media/image48.png"/><Relationship Id="rId6" Type="http://schemas.openxmlformats.org/officeDocument/2006/relationships/hyperlink" Target="https://colab.research.google.com/drive/1H5-OGz_7dvNSNrNj043xwf0szROpBjAV#scrollTo=8b8370d3&amp;line=30&amp;uniqifier=1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84200" y="151675"/>
            <a:ext cx="3927300" cy="2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Decoding Uncertainty: An Introduction to Probability</a:t>
            </a:r>
            <a:endParaRPr b="1" i="0" sz="3000" u="none" cap="none" strike="noStrike">
              <a:solidFill>
                <a:srgbClr val="2A4E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1943" y="151686"/>
            <a:ext cx="609576" cy="488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9199" y="1545525"/>
            <a:ext cx="3452324" cy="31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384200" y="3335300"/>
            <a:ext cx="46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30200" marR="5080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" name="Google Shape;103;p25"/>
          <p:cNvGrpSpPr/>
          <p:nvPr/>
        </p:nvGrpSpPr>
        <p:grpSpPr>
          <a:xfrm>
            <a:off x="478775" y="2968625"/>
            <a:ext cx="4458726" cy="1564500"/>
            <a:chOff x="705588" y="2968625"/>
            <a:chExt cx="4458726" cy="1564500"/>
          </a:xfrm>
        </p:grpSpPr>
        <p:sp>
          <p:nvSpPr>
            <p:cNvPr id="104" name="Google Shape;104;p25"/>
            <p:cNvSpPr/>
            <p:nvPr/>
          </p:nvSpPr>
          <p:spPr>
            <a:xfrm>
              <a:off x="705588" y="2968625"/>
              <a:ext cx="4425300" cy="15645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25"/>
            <p:cNvGrpSpPr/>
            <p:nvPr/>
          </p:nvGrpSpPr>
          <p:grpSpPr>
            <a:xfrm>
              <a:off x="836386" y="3070475"/>
              <a:ext cx="4327928" cy="1360800"/>
              <a:chOff x="881222" y="3172325"/>
              <a:chExt cx="4327928" cy="1360800"/>
            </a:xfrm>
          </p:grpSpPr>
          <p:sp>
            <p:nvSpPr>
              <p:cNvPr id="106" name="Google Shape;106;p25"/>
              <p:cNvSpPr txBox="1"/>
              <p:nvPr/>
            </p:nvSpPr>
            <p:spPr>
              <a:xfrm>
                <a:off x="1281850" y="3172325"/>
                <a:ext cx="3927300" cy="136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330200" rtl="0" algn="l">
                  <a:lnSpc>
                    <a:spcPct val="115000"/>
                  </a:lnSpc>
                  <a:spcBef>
                    <a:spcPts val="17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Pro-Tip: </a:t>
                </a: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Probability is not just about measuring chance; it is the fundamental mathematical language used to quantify uncertainty in all data-driven fields.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pic>
            <p:nvPicPr>
              <p:cNvPr id="107" name="Google Shape;107;p25"/>
              <p:cNvPicPr preferRelativeResize="0"/>
              <p:nvPr/>
            </p:nvPicPr>
            <p:blipFill rotWithShape="1">
              <a:blip r:embed="rId5">
                <a:alphaModFix/>
              </a:blip>
              <a:srcRect b="24425" l="23719" r="13483" t="26350"/>
              <a:stretch/>
            </p:blipFill>
            <p:spPr>
              <a:xfrm>
                <a:off x="881222" y="3482325"/>
                <a:ext cx="681900" cy="740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/>
        </p:nvSpPr>
        <p:spPr>
          <a:xfrm>
            <a:off x="484227" y="151675"/>
            <a:ext cx="74925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1800">
                <a:solidFill>
                  <a:srgbClr val="2A4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Probability: The Geometry of Data</a:t>
            </a:r>
            <a:endParaRPr b="1" i="0" sz="1800" u="none" cap="none" strike="noStrike">
              <a:solidFill>
                <a:srgbClr val="2A4E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482481" y="535140"/>
            <a:ext cx="4748400" cy="33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1943" y="151686"/>
            <a:ext cx="609576" cy="488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6"/>
          <p:cNvSpPr txBox="1"/>
          <p:nvPr/>
        </p:nvSpPr>
        <p:spPr>
          <a:xfrm>
            <a:off x="729123" y="973382"/>
            <a:ext cx="42552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12700" rtl="0" algn="just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quantifies uncertainty,   shifting analytics from looking at what   happened to what is likely.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variable in the real world  from   human heights to rainfall—has a shape,   known as its distribution.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95000"/>
              </a:lnSpc>
              <a:spcBef>
                <a:spcPts val="15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these hidden distribution   shapes reveals patterns impossible to see   in raw data alone.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404673" y="2968618"/>
            <a:ext cx="4904100" cy="1201500"/>
          </a:xfrm>
          <a:prstGeom prst="rect">
            <a:avLst/>
          </a:prstGeom>
          <a:solidFill>
            <a:srgbClr val="F2ECE0"/>
          </a:solidFill>
          <a:ln cap="flat" cmpd="sng" w="9525">
            <a:solidFill>
              <a:srgbClr val="C79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26"/>
          <p:cNvGrpSpPr/>
          <p:nvPr/>
        </p:nvGrpSpPr>
        <p:grpSpPr>
          <a:xfrm>
            <a:off x="640798" y="3172318"/>
            <a:ext cx="4431850" cy="794100"/>
            <a:chOff x="484225" y="3389575"/>
            <a:chExt cx="4431850" cy="794100"/>
          </a:xfrm>
        </p:grpSpPr>
        <p:sp>
          <p:nvSpPr>
            <p:cNvPr id="118" name="Google Shape;118;p26"/>
            <p:cNvSpPr txBox="1"/>
            <p:nvPr/>
          </p:nvSpPr>
          <p:spPr>
            <a:xfrm>
              <a:off x="1322675" y="3389575"/>
              <a:ext cx="35934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Don’t just analyze the data points; analyze the engine that generated them.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Probability is that engine.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19" name="Google Shape;119;p26"/>
            <p:cNvPicPr preferRelativeResize="0"/>
            <p:nvPr/>
          </p:nvPicPr>
          <p:blipFill rotWithShape="1">
            <a:blip r:embed="rId4">
              <a:alphaModFix/>
            </a:blip>
            <a:srcRect b="24425" l="23719" r="13483" t="26350"/>
            <a:stretch/>
          </p:blipFill>
          <p:spPr>
            <a:xfrm>
              <a:off x="484225" y="3416225"/>
              <a:ext cx="681900" cy="740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0" name="Google Shape;120;p26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5105"/>
          <a:stretch/>
        </p:blipFill>
        <p:spPr>
          <a:xfrm>
            <a:off x="5308775" y="870725"/>
            <a:ext cx="3760725" cy="29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7"/>
          <p:cNvGrpSpPr/>
          <p:nvPr/>
        </p:nvGrpSpPr>
        <p:grpSpPr>
          <a:xfrm>
            <a:off x="482078" y="151675"/>
            <a:ext cx="8179038" cy="553500"/>
            <a:chOff x="481600" y="260739"/>
            <a:chExt cx="8179038" cy="553500"/>
          </a:xfrm>
        </p:grpSpPr>
        <p:grpSp>
          <p:nvGrpSpPr>
            <p:cNvPr id="126" name="Google Shape;126;p27"/>
            <p:cNvGrpSpPr/>
            <p:nvPr/>
          </p:nvGrpSpPr>
          <p:grpSpPr>
            <a:xfrm>
              <a:off x="481600" y="260739"/>
              <a:ext cx="4715349" cy="553500"/>
              <a:chOff x="481600" y="260739"/>
              <a:chExt cx="4715349" cy="553500"/>
            </a:xfrm>
          </p:grpSpPr>
          <p:sp>
            <p:nvSpPr>
              <p:cNvPr id="127" name="Google Shape;127;p27"/>
              <p:cNvSpPr txBox="1"/>
              <p:nvPr/>
            </p:nvSpPr>
            <p:spPr>
              <a:xfrm>
                <a:off x="483349" y="260739"/>
                <a:ext cx="47136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b="1"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‘Why’: Moving Beyond Raw Data</a:t>
                </a:r>
                <a:endParaRPr b="1" sz="1800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28" name="Google Shape;128;p27"/>
              <p:cNvCxnSpPr/>
              <p:nvPr/>
            </p:nvCxnSpPr>
            <p:spPr>
              <a:xfrm flipH="1" rot="10800000">
                <a:off x="481600" y="641804"/>
                <a:ext cx="3944700" cy="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7"/>
          <p:cNvSpPr txBox="1"/>
          <p:nvPr/>
        </p:nvSpPr>
        <p:spPr>
          <a:xfrm>
            <a:off x="482075" y="705175"/>
            <a:ext cx="8661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sheer volume of modern data makes it impossible to extract meaningful information simply by scanning raw values.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fundamental axiOm of Data Analytics is that all data inherently follows (or is a sample of) a mathematical distribution.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there is a distribution, there is probability—acting as the core foundation for all statistical inference and generalization.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1" name="Google Shape;131;p27"/>
          <p:cNvGrpSpPr/>
          <p:nvPr/>
        </p:nvGrpSpPr>
        <p:grpSpPr>
          <a:xfrm>
            <a:off x="482550" y="4238625"/>
            <a:ext cx="8178900" cy="628800"/>
            <a:chOff x="482075" y="4238625"/>
            <a:chExt cx="8178900" cy="628800"/>
          </a:xfrm>
        </p:grpSpPr>
        <p:sp>
          <p:nvSpPr>
            <p:cNvPr id="132" name="Google Shape;132;p27"/>
            <p:cNvSpPr/>
            <p:nvPr/>
          </p:nvSpPr>
          <p:spPr>
            <a:xfrm>
              <a:off x="482075" y="4238625"/>
              <a:ext cx="8178900" cy="6288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 txBox="1"/>
            <p:nvPr/>
          </p:nvSpPr>
          <p:spPr>
            <a:xfrm>
              <a:off x="794675" y="4368375"/>
              <a:ext cx="755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Raw data is history; 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probability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future. If you want to predict, you must embrace the distribution.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34" name="Google Shape;134;p2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11762"/>
          <a:stretch/>
        </p:blipFill>
        <p:spPr>
          <a:xfrm>
            <a:off x="1355788" y="1923362"/>
            <a:ext cx="6392461" cy="216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482075" y="1349375"/>
            <a:ext cx="4734900" cy="18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Experiment: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action with an   uncertain outcome (e.g., tossing a coin   or measuring a daily temperature).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Space (S):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definitive set of all possible outcomes for a given experiment (e.g., S = {Heads, Tails}).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(E):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specific subset of the sample space that we are trying to measure the likelihood of occurring.</a:t>
            </a:r>
            <a:endParaRPr b="1"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0" name="Google Shape;140;p28"/>
          <p:cNvGrpSpPr/>
          <p:nvPr/>
        </p:nvGrpSpPr>
        <p:grpSpPr>
          <a:xfrm>
            <a:off x="482156" y="151675"/>
            <a:ext cx="8179038" cy="553500"/>
            <a:chOff x="481600" y="260739"/>
            <a:chExt cx="8179038" cy="553500"/>
          </a:xfrm>
        </p:grpSpPr>
        <p:grpSp>
          <p:nvGrpSpPr>
            <p:cNvPr id="141" name="Google Shape;141;p28"/>
            <p:cNvGrpSpPr/>
            <p:nvPr/>
          </p:nvGrpSpPr>
          <p:grpSpPr>
            <a:xfrm>
              <a:off x="481600" y="260739"/>
              <a:ext cx="4837444" cy="553500"/>
              <a:chOff x="481600" y="260739"/>
              <a:chExt cx="4837444" cy="553500"/>
            </a:xfrm>
          </p:grpSpPr>
          <p:sp>
            <p:nvSpPr>
              <p:cNvPr id="142" name="Google Shape;142;p28"/>
              <p:cNvSpPr txBox="1"/>
              <p:nvPr/>
            </p:nvSpPr>
            <p:spPr>
              <a:xfrm>
                <a:off x="483344" y="260739"/>
                <a:ext cx="4835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b="1" lang="en-GB" sz="1800">
                    <a:solidFill>
                      <a:srgbClr val="2A4E7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Probability Fundamental Concepts</a:t>
                </a:r>
                <a:endParaRPr b="1" sz="1800">
                  <a:solidFill>
                    <a:srgbClr val="2A4E7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43" name="Google Shape;143;p28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8"/>
          <p:cNvGrpSpPr/>
          <p:nvPr/>
        </p:nvGrpSpPr>
        <p:grpSpPr>
          <a:xfrm>
            <a:off x="3835075" y="1349375"/>
            <a:ext cx="4835650" cy="2411024"/>
            <a:chOff x="3835075" y="968375"/>
            <a:chExt cx="4835650" cy="2411024"/>
          </a:xfrm>
        </p:grpSpPr>
        <p:grpSp>
          <p:nvGrpSpPr>
            <p:cNvPr id="146" name="Google Shape;146;p28"/>
            <p:cNvGrpSpPr/>
            <p:nvPr/>
          </p:nvGrpSpPr>
          <p:grpSpPr>
            <a:xfrm>
              <a:off x="3835075" y="968375"/>
              <a:ext cx="4835650" cy="2411024"/>
              <a:chOff x="3835075" y="968375"/>
              <a:chExt cx="4835650" cy="2411024"/>
            </a:xfrm>
          </p:grpSpPr>
          <p:pic>
            <p:nvPicPr>
              <p:cNvPr id="147" name="Google Shape;147;p2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373124" y="1570699"/>
                <a:ext cx="3288077" cy="18087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8" name="Google Shape;148;p28"/>
              <p:cNvCxnSpPr/>
              <p:nvPr/>
            </p:nvCxnSpPr>
            <p:spPr>
              <a:xfrm>
                <a:off x="5177612" y="1840993"/>
                <a:ext cx="197400" cy="29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28"/>
              <p:cNvCxnSpPr/>
              <p:nvPr/>
            </p:nvCxnSpPr>
            <p:spPr>
              <a:xfrm>
                <a:off x="3835075" y="2499050"/>
                <a:ext cx="1540500" cy="30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0" name="Google Shape;150;p28"/>
              <p:cNvGrpSpPr/>
              <p:nvPr/>
            </p:nvGrpSpPr>
            <p:grpSpPr>
              <a:xfrm>
                <a:off x="6157713" y="968375"/>
                <a:ext cx="2022000" cy="553500"/>
                <a:chOff x="6006163" y="1059450"/>
                <a:chExt cx="2022000" cy="553500"/>
              </a:xfrm>
            </p:grpSpPr>
            <p:sp>
              <p:nvSpPr>
                <p:cNvPr id="151" name="Google Shape;151;p28"/>
                <p:cNvSpPr/>
                <p:nvPr/>
              </p:nvSpPr>
              <p:spPr>
                <a:xfrm>
                  <a:off x="6403475" y="1059450"/>
                  <a:ext cx="1253400" cy="5535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28"/>
                <p:cNvSpPr txBox="1"/>
                <p:nvPr/>
              </p:nvSpPr>
              <p:spPr>
                <a:xfrm>
                  <a:off x="6006163" y="1180050"/>
                  <a:ext cx="2022000" cy="312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Experiment</a:t>
                  </a:r>
                  <a:endParaRPr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153" name="Google Shape;153;p28"/>
              <p:cNvSpPr txBox="1"/>
              <p:nvPr/>
            </p:nvSpPr>
            <p:spPr>
              <a:xfrm>
                <a:off x="7660625" y="2912725"/>
                <a:ext cx="10101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Event (E)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54" name="Google Shape;154;p28"/>
            <p:cNvCxnSpPr/>
            <p:nvPr/>
          </p:nvCxnSpPr>
          <p:spPr>
            <a:xfrm>
              <a:off x="5084525" y="1195150"/>
              <a:ext cx="14490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5" name="Google Shape;155;p28"/>
          <p:cNvGrpSpPr/>
          <p:nvPr/>
        </p:nvGrpSpPr>
        <p:grpSpPr>
          <a:xfrm>
            <a:off x="482550" y="4238625"/>
            <a:ext cx="8178900" cy="628800"/>
            <a:chOff x="482075" y="4238625"/>
            <a:chExt cx="8178900" cy="628800"/>
          </a:xfrm>
        </p:grpSpPr>
        <p:sp>
          <p:nvSpPr>
            <p:cNvPr id="156" name="Google Shape;156;p28"/>
            <p:cNvSpPr/>
            <p:nvPr/>
          </p:nvSpPr>
          <p:spPr>
            <a:xfrm>
              <a:off x="482075" y="4238625"/>
              <a:ext cx="8178900" cy="6288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8"/>
            <p:cNvSpPr txBox="1"/>
            <p:nvPr/>
          </p:nvSpPr>
          <p:spPr>
            <a:xfrm>
              <a:off x="794675" y="4368375"/>
              <a:ext cx="755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Always define your Sample Space (S) before calculating anything. A wrong S guarantees a wrong probability.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9"/>
          <p:cNvGrpSpPr/>
          <p:nvPr/>
        </p:nvGrpSpPr>
        <p:grpSpPr>
          <a:xfrm>
            <a:off x="482156" y="151675"/>
            <a:ext cx="8179038" cy="553500"/>
            <a:chOff x="481600" y="260739"/>
            <a:chExt cx="8179038" cy="553500"/>
          </a:xfrm>
        </p:grpSpPr>
        <p:grpSp>
          <p:nvGrpSpPr>
            <p:cNvPr id="163" name="Google Shape;163;p29"/>
            <p:cNvGrpSpPr/>
            <p:nvPr/>
          </p:nvGrpSpPr>
          <p:grpSpPr>
            <a:xfrm>
              <a:off x="481600" y="260739"/>
              <a:ext cx="4837444" cy="553500"/>
              <a:chOff x="481600" y="260739"/>
              <a:chExt cx="4837444" cy="553500"/>
            </a:xfrm>
          </p:grpSpPr>
          <p:sp>
            <p:nvSpPr>
              <p:cNvPr id="164" name="Google Shape;164;p29"/>
              <p:cNvSpPr txBox="1"/>
              <p:nvPr/>
            </p:nvSpPr>
            <p:spPr>
              <a:xfrm>
                <a:off x="483344" y="260739"/>
                <a:ext cx="4835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b="1" lang="en-GB" sz="1800">
                    <a:solidFill>
                      <a:srgbClr val="2A4E7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Probability Fundamental Concepts</a:t>
                </a:r>
                <a:endParaRPr b="1" sz="1800">
                  <a:solidFill>
                    <a:srgbClr val="2A4E7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65" name="Google Shape;165;p29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166" name="Google Shape;16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" name="Google Shape;167;p29"/>
          <p:cNvGrpSpPr/>
          <p:nvPr/>
        </p:nvGrpSpPr>
        <p:grpSpPr>
          <a:xfrm>
            <a:off x="482550" y="4238625"/>
            <a:ext cx="8178900" cy="628800"/>
            <a:chOff x="482075" y="4238625"/>
            <a:chExt cx="8178900" cy="628800"/>
          </a:xfrm>
        </p:grpSpPr>
        <p:sp>
          <p:nvSpPr>
            <p:cNvPr id="168" name="Google Shape;168;p29"/>
            <p:cNvSpPr/>
            <p:nvPr/>
          </p:nvSpPr>
          <p:spPr>
            <a:xfrm>
              <a:off x="482075" y="4238625"/>
              <a:ext cx="8178900" cy="6288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9"/>
            <p:cNvSpPr txBox="1"/>
            <p:nvPr/>
          </p:nvSpPr>
          <p:spPr>
            <a:xfrm>
              <a:off x="794675" y="4368375"/>
              <a:ext cx="755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Always define your Sample Space (S) before calculating anything. A wrong S guarantees a wrong probability.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170" name="Google Shape;170;p29"/>
          <p:cNvGraphicFramePr/>
          <p:nvPr/>
        </p:nvGraphicFramePr>
        <p:xfrm>
          <a:off x="482550" y="15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{D2F7691F-B026-49A2-8D5C-FD015D750C43}</a:tableStyleId>
              </a:tblPr>
              <a:tblGrid>
                <a:gridCol w="2726350"/>
                <a:gridCol w="2726350"/>
                <a:gridCol w="2726350"/>
              </a:tblGrid>
              <a:tr h="43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Space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(E)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An action yielding uncertain outcomes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Eg. tossing a coin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The absolute set of all possible outcomes.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S- {Head, Tail}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specific subset of the sample space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 = {Heads}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971" y="2571750"/>
            <a:ext cx="650625" cy="755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9"/>
          <p:cNvGrpSpPr/>
          <p:nvPr/>
        </p:nvGrpSpPr>
        <p:grpSpPr>
          <a:xfrm>
            <a:off x="482028" y="548193"/>
            <a:ext cx="8179289" cy="935939"/>
            <a:chOff x="76175" y="541875"/>
            <a:chExt cx="8916700" cy="1020319"/>
          </a:xfrm>
        </p:grpSpPr>
        <p:pic>
          <p:nvPicPr>
            <p:cNvPr id="173" name="Google Shape;17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2150" y="993063"/>
              <a:ext cx="8121040" cy="251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9"/>
            <p:cNvSpPr txBox="1"/>
            <p:nvPr/>
          </p:nvSpPr>
          <p:spPr>
            <a:xfrm>
              <a:off x="3753775" y="893175"/>
              <a:ext cx="15615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75" lIns="83875" spcFirstLastPara="1" rIns="83875" wrap="square" tIns="83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3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≤ P ≤ 1</a:t>
              </a:r>
              <a:endParaRPr b="1" sz="183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29"/>
            <p:cNvSpPr txBox="1"/>
            <p:nvPr/>
          </p:nvSpPr>
          <p:spPr>
            <a:xfrm>
              <a:off x="185470" y="541875"/>
              <a:ext cx="6507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75" lIns="83875" spcFirstLastPara="1" rIns="83875" wrap="square" tIns="83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3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sz="183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p29"/>
            <p:cNvSpPr txBox="1"/>
            <p:nvPr/>
          </p:nvSpPr>
          <p:spPr>
            <a:xfrm>
              <a:off x="8232870" y="541875"/>
              <a:ext cx="6507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75" lIns="83875" spcFirstLastPara="1" rIns="83875" wrap="square" tIns="83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3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sz="183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29"/>
            <p:cNvSpPr txBox="1"/>
            <p:nvPr/>
          </p:nvSpPr>
          <p:spPr>
            <a:xfrm>
              <a:off x="76175" y="1110994"/>
              <a:ext cx="12261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75" lIns="83875" spcFirstLastPara="1" rIns="83875" wrap="square" tIns="83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6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(Impossible)</a:t>
              </a:r>
              <a:endParaRPr sz="146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8" name="Google Shape;178;p29"/>
            <p:cNvSpPr txBox="1"/>
            <p:nvPr/>
          </p:nvSpPr>
          <p:spPr>
            <a:xfrm>
              <a:off x="7766775" y="1110994"/>
              <a:ext cx="12261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75" lIns="83875" spcFirstLastPara="1" rIns="83875" wrap="square" tIns="83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6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(Certain)</a:t>
              </a:r>
              <a:endParaRPr sz="146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30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184" name="Google Shape;184;p30"/>
            <p:cNvGrpSpPr/>
            <p:nvPr/>
          </p:nvGrpSpPr>
          <p:grpSpPr>
            <a:xfrm>
              <a:off x="481600" y="260739"/>
              <a:ext cx="5767144" cy="553500"/>
              <a:chOff x="481600" y="260739"/>
              <a:chExt cx="5767144" cy="553500"/>
            </a:xfrm>
          </p:grpSpPr>
          <p:sp>
            <p:nvSpPr>
              <p:cNvPr id="185" name="Google Shape;185;p30"/>
              <p:cNvSpPr txBox="1"/>
              <p:nvPr/>
            </p:nvSpPr>
            <p:spPr>
              <a:xfrm>
                <a:off x="483344" y="260739"/>
                <a:ext cx="57654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lang="en-GB" sz="1800">
                    <a:solidFill>
                      <a:srgbClr val="2A4E7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Discrete vs. Continuous Random Variables</a:t>
                </a:r>
                <a:endParaRPr b="1" i="0" sz="1800" u="none" cap="none" strike="noStrike">
                  <a:solidFill>
                    <a:srgbClr val="2A4E7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86" name="Google Shape;186;p30"/>
              <p:cNvCxnSpPr/>
              <p:nvPr/>
            </p:nvCxnSpPr>
            <p:spPr>
              <a:xfrm flipH="1" rot="10800000">
                <a:off x="481600" y="643004"/>
                <a:ext cx="4309800" cy="1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187" name="Google Shape;187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p30"/>
          <p:cNvSpPr txBox="1"/>
          <p:nvPr/>
        </p:nvSpPr>
        <p:spPr>
          <a:xfrm>
            <a:off x="482475" y="705175"/>
            <a:ext cx="300000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Variables: Characterized by countable, distinct outcomes (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example: number of emails per hour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Modeled using a Probability Mass Function (PMF).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4868325" y="705175"/>
            <a:ext cx="37932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Variables: Characterized by infinite potential outcomes within a range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example: temperature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Modeled using a Probability Density Function (PDF).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0" name="Google Shape;190;p30"/>
          <p:cNvGrpSpPr/>
          <p:nvPr/>
        </p:nvGrpSpPr>
        <p:grpSpPr>
          <a:xfrm>
            <a:off x="482550" y="4202864"/>
            <a:ext cx="8178900" cy="735300"/>
            <a:chOff x="482075" y="4612914"/>
            <a:chExt cx="8178900" cy="735300"/>
          </a:xfrm>
        </p:grpSpPr>
        <p:sp>
          <p:nvSpPr>
            <p:cNvPr id="191" name="Google Shape;191;p30"/>
            <p:cNvSpPr/>
            <p:nvPr/>
          </p:nvSpPr>
          <p:spPr>
            <a:xfrm>
              <a:off x="482075" y="4612914"/>
              <a:ext cx="8178900" cy="735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0"/>
            <p:cNvSpPr txBox="1"/>
            <p:nvPr/>
          </p:nvSpPr>
          <p:spPr>
            <a:xfrm>
              <a:off x="794675" y="4689714"/>
              <a:ext cx="7553700" cy="5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mathematical treatment of a variable defines your entire analytics pipeline. Always verify if your variable is genuinely continuous or just a highly granular discrete measurement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93" name="Google Shape;193;p30"/>
          <p:cNvCxnSpPr/>
          <p:nvPr/>
        </p:nvCxnSpPr>
        <p:spPr>
          <a:xfrm flipH="1">
            <a:off x="4417100" y="683700"/>
            <a:ext cx="19200" cy="32031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1835" y="2733775"/>
            <a:ext cx="1281275" cy="12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7286" y="2620113"/>
            <a:ext cx="1175275" cy="1471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31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201" name="Google Shape;201;p31"/>
            <p:cNvGrpSpPr/>
            <p:nvPr/>
          </p:nvGrpSpPr>
          <p:grpSpPr>
            <a:xfrm>
              <a:off x="481600" y="260739"/>
              <a:ext cx="5767144" cy="553500"/>
              <a:chOff x="481600" y="260739"/>
              <a:chExt cx="5767144" cy="553500"/>
            </a:xfrm>
          </p:grpSpPr>
          <p:sp>
            <p:nvSpPr>
              <p:cNvPr id="202" name="Google Shape;202;p31"/>
              <p:cNvSpPr txBox="1"/>
              <p:nvPr/>
            </p:nvSpPr>
            <p:spPr>
              <a:xfrm>
                <a:off x="483344" y="260739"/>
                <a:ext cx="57654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lang="en-GB" sz="1800">
                    <a:solidFill>
                      <a:srgbClr val="2A4E7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Mapping the Spread: Defining the Distribution</a:t>
                </a:r>
                <a:endParaRPr b="1" i="0" sz="1800" u="none" cap="none" strike="noStrike">
                  <a:solidFill>
                    <a:srgbClr val="2A4E7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03" name="Google Shape;203;p31"/>
              <p:cNvCxnSpPr/>
              <p:nvPr/>
            </p:nvCxnSpPr>
            <p:spPr>
              <a:xfrm flipH="1" rot="10800000">
                <a:off x="481600" y="640904"/>
                <a:ext cx="4781700" cy="3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04" name="Google Shape;20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31"/>
          <p:cNvSpPr txBox="1"/>
          <p:nvPr/>
        </p:nvSpPr>
        <p:spPr>
          <a:xfrm>
            <a:off x="482475" y="1317063"/>
            <a:ext cx="30000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PMF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PMF, calculate the exact probability of X=k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4868325" y="1368363"/>
            <a:ext cx="37932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PDFs calculate the probability of X falling within   a specific continuous range.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7" name="Google Shape;207;p31"/>
          <p:cNvGrpSpPr/>
          <p:nvPr/>
        </p:nvGrpSpPr>
        <p:grpSpPr>
          <a:xfrm>
            <a:off x="482550" y="4627211"/>
            <a:ext cx="8178900" cy="369300"/>
            <a:chOff x="482075" y="4612936"/>
            <a:chExt cx="8178900" cy="369300"/>
          </a:xfrm>
        </p:grpSpPr>
        <p:sp>
          <p:nvSpPr>
            <p:cNvPr id="208" name="Google Shape;208;p31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1"/>
            <p:cNvSpPr txBox="1"/>
            <p:nvPr/>
          </p:nvSpPr>
          <p:spPr>
            <a:xfrm>
              <a:off x="794675" y="4612936"/>
              <a:ext cx="755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en-GB" sz="1200">
                  <a:solidFill>
                    <a:srgbClr val="05050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can count </a:t>
              </a:r>
              <a:r>
                <a:rPr lang="en-GB" sz="1200">
                  <a:solidFill>
                    <a:srgbClr val="05050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it,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a PMF. If you have to measure it, use a PDF.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10" name="Google Shape;210;p31"/>
          <p:cNvCxnSpPr/>
          <p:nvPr/>
        </p:nvCxnSpPr>
        <p:spPr>
          <a:xfrm flipH="1">
            <a:off x="4414100" y="1368375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31"/>
          <p:cNvSpPr txBox="1"/>
          <p:nvPr/>
        </p:nvSpPr>
        <p:spPr>
          <a:xfrm>
            <a:off x="482475" y="759725"/>
            <a:ext cx="809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just">
              <a:lnSpc>
                <a:spcPct val="96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dictates exactly how the values of a random variable are spread out, providing a mathematical roadmap to calculate the likelihood of different outcomes.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 rotWithShape="1">
          <a:blip r:embed="rId4">
            <a:alphaModFix/>
          </a:blip>
          <a:srcRect b="0" l="0" r="50600" t="11692"/>
          <a:stretch/>
        </p:blipFill>
        <p:spPr>
          <a:xfrm>
            <a:off x="933325" y="2266050"/>
            <a:ext cx="3137249" cy="21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1"/>
          <p:cNvPicPr preferRelativeResize="0"/>
          <p:nvPr/>
        </p:nvPicPr>
        <p:blipFill rotWithShape="1">
          <a:blip r:embed="rId4">
            <a:alphaModFix/>
          </a:blip>
          <a:srcRect b="0" l="49482" r="0" t="9780"/>
          <a:stretch/>
        </p:blipFill>
        <p:spPr>
          <a:xfrm>
            <a:off x="5357075" y="2206275"/>
            <a:ext cx="3000000" cy="21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721900" y="4627200"/>
            <a:ext cx="7753500" cy="421200"/>
          </a:xfrm>
          <a:prstGeom prst="rect">
            <a:avLst/>
          </a:prstGeom>
          <a:solidFill>
            <a:srgbClr val="F2ECE0"/>
          </a:solidFill>
          <a:ln cap="flat" cmpd="sng" w="9525">
            <a:solidFill>
              <a:srgbClr val="C79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32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220" name="Google Shape;220;p32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221" name="Google Shape;221;p32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Type of Distributions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22" name="Google Shape;222;p32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23" name="Google Shape;22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988" y="1088893"/>
            <a:ext cx="7128015" cy="142024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1633734" y="1088901"/>
            <a:ext cx="1006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3905637" y="1088901"/>
            <a:ext cx="1254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Exponential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6426241" y="1088901"/>
            <a:ext cx="1006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3573925" y="683375"/>
            <a:ext cx="1996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2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Distributions</a:t>
            </a:r>
            <a:endParaRPr b="1" sz="122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3573947" y="2705389"/>
            <a:ext cx="1996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2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Distributions</a:t>
            </a:r>
            <a:endParaRPr b="1" sz="122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998" y="3039879"/>
            <a:ext cx="7128015" cy="142024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 txBox="1"/>
          <p:nvPr/>
        </p:nvSpPr>
        <p:spPr>
          <a:xfrm>
            <a:off x="1633744" y="3039888"/>
            <a:ext cx="1006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Bernoulli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3905647" y="3039888"/>
            <a:ext cx="1254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Binomial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6426252" y="3039888"/>
            <a:ext cx="1006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Poisson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9970" y="3496758"/>
            <a:ext cx="671099" cy="42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7230" y="3463662"/>
            <a:ext cx="622434" cy="4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2756" y="3505765"/>
            <a:ext cx="622426" cy="4884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/>
        </p:nvSpPr>
        <p:spPr>
          <a:xfrm>
            <a:off x="993762" y="2064388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Symmetric, bell shaped defined by 𝜇 and 𝜎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3462290" y="2064388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time between events: features memoryless property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5916590" y="2064388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outcomes equally likely over a </a:t>
            </a: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</a:t>
            </a: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range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993762" y="4069701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Outcomes (</a:t>
            </a: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</a:t>
            </a: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Failure)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3433835" y="4069701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Repeated Bernoulli trials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888135" y="4069701"/>
            <a:ext cx="22194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00" lIns="73700" spcFirstLastPara="1" rIns="73700" wrap="square" tIns="7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number of events in a fixed time/space</a:t>
            </a:r>
            <a:endParaRPr b="1" sz="10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795150" y="4535561"/>
            <a:ext cx="7553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Pro-Tip: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just memorize the formulas. Memorize the physical data-generating processes behind these distributions so you know exactly when to deploy them in the wild.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5050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198025" y="215575"/>
            <a:ext cx="42939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distributions fitted to the real data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6899"/>
          <a:stretch/>
        </p:blipFill>
        <p:spPr>
          <a:xfrm>
            <a:off x="927450" y="1095375"/>
            <a:ext cx="7135549" cy="356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34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256" name="Google Shape;256;p34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257" name="Google Shape;257;p34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Normal 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58" name="Google Shape;258;p34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59" name="Google Shape;25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34"/>
          <p:cNvGrpSpPr/>
          <p:nvPr/>
        </p:nvGrpSpPr>
        <p:grpSpPr>
          <a:xfrm>
            <a:off x="482550" y="4437269"/>
            <a:ext cx="8178900" cy="1000577"/>
            <a:chOff x="482075" y="4612925"/>
            <a:chExt cx="8178900" cy="673200"/>
          </a:xfrm>
        </p:grpSpPr>
        <p:sp>
          <p:nvSpPr>
            <p:cNvPr id="261" name="Google Shape;261;p34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4"/>
            <p:cNvSpPr txBox="1"/>
            <p:nvPr/>
          </p:nvSpPr>
          <p:spPr>
            <a:xfrm>
              <a:off x="482075" y="4612925"/>
              <a:ext cx="8178900" cy="6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Thanks to the Central Limit Theorem, the Normal distribution serves as the default prior for aggregated errors in machine learning, even if underlying individual data points aren't normally distributed.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3" name="Google Shape;263;p34"/>
          <p:cNvGrpSpPr/>
          <p:nvPr/>
        </p:nvGrpSpPr>
        <p:grpSpPr>
          <a:xfrm>
            <a:off x="558750" y="953200"/>
            <a:ext cx="2727900" cy="3073425"/>
            <a:chOff x="558750" y="953200"/>
            <a:chExt cx="2727900" cy="3073425"/>
          </a:xfrm>
        </p:grpSpPr>
        <p:sp>
          <p:nvSpPr>
            <p:cNvPr id="264" name="Google Shape;264;p34"/>
            <p:cNvSpPr txBox="1"/>
            <p:nvPr/>
          </p:nvSpPr>
          <p:spPr>
            <a:xfrm>
              <a:off x="558750" y="953200"/>
              <a:ext cx="27279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symmetric, continuous bell- shaped curve fully defined by its center (𝜇) and spread (𝜎).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34"/>
            <p:cNvSpPr txBox="1"/>
            <p:nvPr/>
          </p:nvSpPr>
          <p:spPr>
            <a:xfrm>
              <a:off x="558750" y="1815375"/>
              <a:ext cx="2727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PDF Formula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66" name="Google Shape;26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61834" y="2207721"/>
              <a:ext cx="1883041" cy="55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34"/>
            <p:cNvSpPr txBox="1"/>
            <p:nvPr/>
          </p:nvSpPr>
          <p:spPr>
            <a:xfrm>
              <a:off x="558750" y="2807725"/>
              <a:ext cx="27279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Human heights;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naturally occurring measurement  errors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68" name="Google Shape;268;p34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9" name="Google Shape;269;p3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11739"/>
          <a:stretch/>
        </p:blipFill>
        <p:spPr>
          <a:xfrm>
            <a:off x="4726200" y="1178050"/>
            <a:ext cx="4265400" cy="27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5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275" name="Google Shape;275;p35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276" name="Google Shape;276;p35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Exponential</a:t>
                </a: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77" name="Google Shape;277;p35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35"/>
          <p:cNvGrpSpPr/>
          <p:nvPr/>
        </p:nvGrpSpPr>
        <p:grpSpPr>
          <a:xfrm>
            <a:off x="482550" y="4437269"/>
            <a:ext cx="8178900" cy="1262315"/>
            <a:chOff x="482075" y="4612925"/>
            <a:chExt cx="8178900" cy="849300"/>
          </a:xfrm>
        </p:grpSpPr>
        <p:sp>
          <p:nvSpPr>
            <p:cNvPr id="280" name="Google Shape;280;p35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5"/>
            <p:cNvSpPr txBox="1"/>
            <p:nvPr/>
          </p:nvSpPr>
          <p:spPr>
            <a:xfrm>
              <a:off x="482075" y="4612925"/>
              <a:ext cx="81789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defining memoryless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property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makes this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mathematically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elegant, but it is often a poor fit for biological lifespans (where distributions accounting for aging are preferred).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82" name="Google Shape;282;p35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3" name="Google Shape;283;p35"/>
          <p:cNvGrpSpPr/>
          <p:nvPr/>
        </p:nvGrpSpPr>
        <p:grpSpPr>
          <a:xfrm>
            <a:off x="558750" y="953200"/>
            <a:ext cx="3425700" cy="3073425"/>
            <a:chOff x="558750" y="953200"/>
            <a:chExt cx="3425700" cy="3073425"/>
          </a:xfrm>
        </p:grpSpPr>
        <p:sp>
          <p:nvSpPr>
            <p:cNvPr id="284" name="Google Shape;284;p35"/>
            <p:cNvSpPr txBox="1"/>
            <p:nvPr/>
          </p:nvSpPr>
          <p:spPr>
            <a:xfrm>
              <a:off x="558750" y="953200"/>
              <a:ext cx="3425700" cy="14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Models the continuous time passing between events in a Poisson process. 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Features the unique memoryless property.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" name="Google Shape;285;p35"/>
            <p:cNvSpPr txBox="1"/>
            <p:nvPr/>
          </p:nvSpPr>
          <p:spPr>
            <a:xfrm>
              <a:off x="558750" y="2807725"/>
              <a:ext cx="27279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Wait times between ATM arrivals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Lifespan of electronic components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86" name="Google Shape;286;p35"/>
            <p:cNvGrpSpPr/>
            <p:nvPr/>
          </p:nvGrpSpPr>
          <p:grpSpPr>
            <a:xfrm>
              <a:off x="558750" y="2108052"/>
              <a:ext cx="2727900" cy="597622"/>
              <a:chOff x="558750" y="1974125"/>
              <a:chExt cx="2727900" cy="597622"/>
            </a:xfrm>
          </p:grpSpPr>
          <p:sp>
            <p:nvSpPr>
              <p:cNvPr id="287" name="Google Shape;287;p35"/>
              <p:cNvSpPr txBox="1"/>
              <p:nvPr/>
            </p:nvSpPr>
            <p:spPr>
              <a:xfrm>
                <a:off x="558750" y="1974125"/>
                <a:ext cx="27279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PDF Formula: </a:t>
                </a:r>
                <a:endParaRPr b="1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pic>
            <p:nvPicPr>
              <p:cNvPr id="288" name="Google Shape;288;p3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319307" y="2237496"/>
                <a:ext cx="1904595" cy="334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89" name="Google Shape;289;p3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11395"/>
          <a:stretch/>
        </p:blipFill>
        <p:spPr>
          <a:xfrm>
            <a:off x="4726200" y="1169950"/>
            <a:ext cx="4265400" cy="26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6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295" name="Google Shape;295;p36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296" name="Google Shape;296;p36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Uniform </a:t>
                </a: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97" name="Google Shape;297;p36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98" name="Google Shape;298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p36"/>
          <p:cNvGrpSpPr/>
          <p:nvPr/>
        </p:nvGrpSpPr>
        <p:grpSpPr>
          <a:xfrm>
            <a:off x="277500" y="4437275"/>
            <a:ext cx="8589000" cy="1262315"/>
            <a:chOff x="277025" y="4612929"/>
            <a:chExt cx="8589000" cy="849300"/>
          </a:xfrm>
        </p:grpSpPr>
        <p:sp>
          <p:nvSpPr>
            <p:cNvPr id="300" name="Google Shape;300;p36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6"/>
            <p:cNvSpPr txBox="1"/>
            <p:nvPr/>
          </p:nvSpPr>
          <p:spPr>
            <a:xfrm>
              <a:off x="277025" y="4612929"/>
              <a:ext cx="85890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constant probability density 1/(b−a) provides an elegant, unbiased baseline for bounded ranges. However, it is often a poor fit for natural phenomena where distributions with specific means and "tails" are required to model reality accurately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02" name="Google Shape;302;p36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3" name="Google Shape;303;p36"/>
          <p:cNvGrpSpPr/>
          <p:nvPr/>
        </p:nvGrpSpPr>
        <p:grpSpPr>
          <a:xfrm>
            <a:off x="558750" y="953200"/>
            <a:ext cx="3425700" cy="2861025"/>
            <a:chOff x="558750" y="953200"/>
            <a:chExt cx="3425700" cy="2861025"/>
          </a:xfrm>
        </p:grpSpPr>
        <p:sp>
          <p:nvSpPr>
            <p:cNvPr id="304" name="Google Shape;304;p36"/>
            <p:cNvSpPr txBox="1"/>
            <p:nvPr/>
          </p:nvSpPr>
          <p:spPr>
            <a:xfrm>
              <a:off x="558750" y="953200"/>
              <a:ext cx="34257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outcomes are equally likely over a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continuous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range.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36"/>
            <p:cNvSpPr txBox="1"/>
            <p:nvPr/>
          </p:nvSpPr>
          <p:spPr>
            <a:xfrm>
              <a:off x="558750" y="2807725"/>
              <a:ext cx="27279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Picking a random number between 0 and 1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36"/>
            <p:cNvSpPr txBox="1"/>
            <p:nvPr/>
          </p:nvSpPr>
          <p:spPr>
            <a:xfrm>
              <a:off x="558750" y="2108052"/>
              <a:ext cx="2727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PDF Formula: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07" name="Google Shape;3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607" y="2375395"/>
            <a:ext cx="2027996" cy="3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11048"/>
          <a:stretch/>
        </p:blipFill>
        <p:spPr>
          <a:xfrm>
            <a:off x="4726200" y="1161875"/>
            <a:ext cx="4265400" cy="270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37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314" name="Google Shape;314;p37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315" name="Google Shape;315;p37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Bernoulli</a:t>
                </a: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16" name="Google Shape;316;p37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317" name="Google Shape;31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37"/>
          <p:cNvGrpSpPr/>
          <p:nvPr/>
        </p:nvGrpSpPr>
        <p:grpSpPr>
          <a:xfrm>
            <a:off x="482550" y="4437269"/>
            <a:ext cx="8178900" cy="1262315"/>
            <a:chOff x="482075" y="4612925"/>
            <a:chExt cx="8178900" cy="849300"/>
          </a:xfrm>
        </p:grpSpPr>
        <p:sp>
          <p:nvSpPr>
            <p:cNvPr id="319" name="Google Shape;319;p37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7"/>
            <p:cNvSpPr txBox="1"/>
            <p:nvPr/>
          </p:nvSpPr>
          <p:spPr>
            <a:xfrm>
              <a:off x="482075" y="4612925"/>
              <a:ext cx="81789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Bernoulli distribution is the atomic unit of machine learning classification. Every logistic regression output is essentially modeling the parameter 'p’ of a Bernoulli trial.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21" name="Google Shape;321;p37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2" name="Google Shape;322;p37"/>
          <p:cNvGrpSpPr/>
          <p:nvPr/>
        </p:nvGrpSpPr>
        <p:grpSpPr>
          <a:xfrm>
            <a:off x="558750" y="953200"/>
            <a:ext cx="3425700" cy="3073425"/>
            <a:chOff x="558750" y="953200"/>
            <a:chExt cx="3425700" cy="3073425"/>
          </a:xfrm>
        </p:grpSpPr>
        <p:sp>
          <p:nvSpPr>
            <p:cNvPr id="323" name="Google Shape;323;p37"/>
            <p:cNvSpPr txBox="1"/>
            <p:nvPr/>
          </p:nvSpPr>
          <p:spPr>
            <a:xfrm>
              <a:off x="558750" y="953200"/>
              <a:ext cx="3425700" cy="9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marR="12700" rtl="0" algn="l">
                <a:lnSpc>
                  <a:spcPct val="95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 single experiment resulting </a:t>
              </a:r>
              <a:r>
                <a:rPr lang="en-GB" sz="1200">
                  <a:solidFill>
                    <a:srgbClr val="00112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exactly two outcomes: Success </a:t>
              </a:r>
              <a:r>
                <a:rPr lang="en-GB" sz="1200">
                  <a:solidFill>
                    <a:srgbClr val="0001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(1) </a:t>
              </a:r>
              <a:r>
                <a:rPr lang="en-GB" sz="1200">
                  <a:solidFill>
                    <a:srgbClr val="00011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 </a:t>
              </a:r>
              <a:r>
                <a:rPr lang="en-GB" sz="1200">
                  <a:solidFill>
                    <a:srgbClr val="1D1D1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Failure </a:t>
              </a:r>
              <a:r>
                <a:rPr lang="en-GB" sz="1200">
                  <a:solidFill>
                    <a:srgbClr val="0015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(0).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37"/>
            <p:cNvSpPr txBox="1"/>
            <p:nvPr/>
          </p:nvSpPr>
          <p:spPr>
            <a:xfrm>
              <a:off x="558750" y="2807725"/>
              <a:ext cx="27279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Tossing a biased coin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Predicting if a machine fails or not.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37"/>
            <p:cNvSpPr txBox="1"/>
            <p:nvPr/>
          </p:nvSpPr>
          <p:spPr>
            <a:xfrm>
              <a:off x="558750" y="2108052"/>
              <a:ext cx="27279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PMF Formula: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P(X = 1) = p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P(X = 0) = 1-p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26" name="Google Shape;326;p3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-18" l="0" r="0" t="11881"/>
          <a:stretch/>
        </p:blipFill>
        <p:spPr>
          <a:xfrm>
            <a:off x="4726200" y="1048650"/>
            <a:ext cx="3792375" cy="287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8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332" name="Google Shape;332;p38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333" name="Google Shape;333;p38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Binomial </a:t>
                </a: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34" name="Google Shape;334;p38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335" name="Google Shape;33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6" name="Google Shape;336;p38"/>
          <p:cNvGrpSpPr/>
          <p:nvPr/>
        </p:nvGrpSpPr>
        <p:grpSpPr>
          <a:xfrm>
            <a:off x="482550" y="4437269"/>
            <a:ext cx="8178900" cy="1262315"/>
            <a:chOff x="482075" y="4612925"/>
            <a:chExt cx="8178900" cy="849300"/>
          </a:xfrm>
        </p:grpSpPr>
        <p:sp>
          <p:nvSpPr>
            <p:cNvPr id="337" name="Google Shape;337;p38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8"/>
            <p:cNvSpPr txBox="1"/>
            <p:nvPr/>
          </p:nvSpPr>
          <p:spPr>
            <a:xfrm>
              <a:off x="482075" y="4612925"/>
              <a:ext cx="81789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the number of trials (n) is very large and the probability of success (p) is very small, the Binomial distribution seamlessly approximates the computationally lighter Poisson distribution.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39" name="Google Shape;339;p38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0" name="Google Shape;340;p38"/>
          <p:cNvGrpSpPr/>
          <p:nvPr/>
        </p:nvGrpSpPr>
        <p:grpSpPr>
          <a:xfrm>
            <a:off x="558750" y="953200"/>
            <a:ext cx="3425700" cy="3073425"/>
            <a:chOff x="558750" y="953200"/>
            <a:chExt cx="3425700" cy="3073425"/>
          </a:xfrm>
        </p:grpSpPr>
        <p:sp>
          <p:nvSpPr>
            <p:cNvPr id="341" name="Google Shape;341;p38"/>
            <p:cNvSpPr txBox="1"/>
            <p:nvPr/>
          </p:nvSpPr>
          <p:spPr>
            <a:xfrm>
              <a:off x="558750" y="953200"/>
              <a:ext cx="34257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34809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sum of n independent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Bernoulli trials.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p38"/>
            <p:cNvSpPr txBox="1"/>
            <p:nvPr/>
          </p:nvSpPr>
          <p:spPr>
            <a:xfrm>
              <a:off x="558750" y="2807725"/>
              <a:ext cx="34257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Heads in 10 coin tosses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customers who buy out of 100 contacted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p38"/>
            <p:cNvSpPr txBox="1"/>
            <p:nvPr/>
          </p:nvSpPr>
          <p:spPr>
            <a:xfrm>
              <a:off x="558750" y="1818976"/>
              <a:ext cx="2727900" cy="5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PMF Formula: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44" name="Google Shape;34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983" y="2151770"/>
            <a:ext cx="2283244" cy="41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8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11754"/>
          <a:stretch/>
        </p:blipFill>
        <p:spPr>
          <a:xfrm>
            <a:off x="4726200" y="1178050"/>
            <a:ext cx="4265398" cy="267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9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351" name="Google Shape;351;p39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352" name="Google Shape;352;p39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Poisson</a:t>
                </a: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3" name="Google Shape;353;p39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354" name="Google Shape;35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39"/>
          <p:cNvGrpSpPr/>
          <p:nvPr/>
        </p:nvGrpSpPr>
        <p:grpSpPr>
          <a:xfrm>
            <a:off x="482550" y="4437269"/>
            <a:ext cx="8178900" cy="738840"/>
            <a:chOff x="482075" y="4612925"/>
            <a:chExt cx="8178900" cy="497100"/>
          </a:xfrm>
        </p:grpSpPr>
        <p:sp>
          <p:nvSpPr>
            <p:cNvPr id="356" name="Google Shape;356;p39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9"/>
            <p:cNvSpPr txBox="1"/>
            <p:nvPr/>
          </p:nvSpPr>
          <p:spPr>
            <a:xfrm>
              <a:off x="482075" y="4612925"/>
              <a:ext cx="81789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strict assumption of "independent events" is Poisson's Achilles’ heel. If events cluster (like viral retweets), upgrade to the Negative Binomial distribution.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58" name="Google Shape;358;p39"/>
          <p:cNvCxnSpPr/>
          <p:nvPr/>
        </p:nvCxnSpPr>
        <p:spPr>
          <a:xfrm flipH="1">
            <a:off x="4570206" y="1009707"/>
            <a:ext cx="3600" cy="2960400"/>
          </a:xfrm>
          <a:prstGeom prst="straightConnector1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9" name="Google Shape;359;p39"/>
          <p:cNvGrpSpPr/>
          <p:nvPr/>
        </p:nvGrpSpPr>
        <p:grpSpPr>
          <a:xfrm>
            <a:off x="558750" y="953200"/>
            <a:ext cx="3425700" cy="2861025"/>
            <a:chOff x="558750" y="953200"/>
            <a:chExt cx="3425700" cy="2861025"/>
          </a:xfrm>
        </p:grpSpPr>
        <p:sp>
          <p:nvSpPr>
            <p:cNvPr id="360" name="Google Shape;360;p39"/>
            <p:cNvSpPr txBox="1"/>
            <p:nvPr/>
          </p:nvSpPr>
          <p:spPr>
            <a:xfrm>
              <a:off x="558750" y="953200"/>
              <a:ext cx="3425700" cy="10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Concept: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marR="1270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Models the exact count of events occurring in a fixed interval of time or space, 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marR="127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Assuming events happen independently.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p39"/>
            <p:cNvSpPr txBox="1"/>
            <p:nvPr/>
          </p:nvSpPr>
          <p:spPr>
            <a:xfrm>
              <a:off x="558750" y="2807725"/>
              <a:ext cx="34257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calls to call center in 1 hour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Char char="➢"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typos per page in a book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39"/>
            <p:cNvSpPr txBox="1"/>
            <p:nvPr/>
          </p:nvSpPr>
          <p:spPr>
            <a:xfrm>
              <a:off x="558750" y="1985286"/>
              <a:ext cx="2727900" cy="5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PMF 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ormula: 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63" name="Google Shape;36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502" y="2268633"/>
            <a:ext cx="1506900" cy="4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9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11056"/>
          <a:stretch/>
        </p:blipFill>
        <p:spPr>
          <a:xfrm>
            <a:off x="4726200" y="1161875"/>
            <a:ext cx="4265402" cy="269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40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370" name="Google Shape;370;p40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371" name="Google Shape;371;p40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Understanding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72" name="Google Shape;372;p40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373" name="Google Shape;37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" name="Google Shape;374;p40"/>
          <p:cNvGrpSpPr/>
          <p:nvPr/>
        </p:nvGrpSpPr>
        <p:grpSpPr>
          <a:xfrm>
            <a:off x="859636" y="1054838"/>
            <a:ext cx="7424725" cy="3032756"/>
            <a:chOff x="482475" y="817234"/>
            <a:chExt cx="8204116" cy="3351112"/>
          </a:xfrm>
        </p:grpSpPr>
        <p:pic>
          <p:nvPicPr>
            <p:cNvPr id="375" name="Google Shape;37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2475" y="817234"/>
              <a:ext cx="8179050" cy="3351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40"/>
            <p:cNvSpPr txBox="1"/>
            <p:nvPr/>
          </p:nvSpPr>
          <p:spPr>
            <a:xfrm>
              <a:off x="5661525" y="2086970"/>
              <a:ext cx="2727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11492" marR="11492" rtl="0" algn="l">
                <a:lnSpc>
                  <a:spcPct val="100000"/>
                </a:lnSpc>
                <a:spcBef>
                  <a:spcPts val="452"/>
                </a:spcBef>
                <a:spcAft>
                  <a:spcPts val="0"/>
                </a:spcAft>
                <a:buNone/>
              </a:pPr>
              <a:r>
                <a:rPr lang="en-GB" sz="108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Skewed (e.g., Exponential): Expect more small events, and rare but highly impactful massive events.</a:t>
              </a:r>
              <a:endParaRPr sz="10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40"/>
            <p:cNvSpPr txBox="1"/>
            <p:nvPr/>
          </p:nvSpPr>
          <p:spPr>
            <a:xfrm>
              <a:off x="5686591" y="3333186"/>
              <a:ext cx="3000000" cy="7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725" lIns="82725" spcFirstLastPara="1" rIns="82725" wrap="square" tIns="82725">
              <a:noAutofit/>
            </a:bodyPr>
            <a:lstStyle/>
            <a:p>
              <a:pPr indent="0" lvl="0" marL="11492" marR="11492" rtl="0" algn="l">
                <a:lnSpc>
                  <a:spcPct val="100000"/>
                </a:lnSpc>
                <a:spcBef>
                  <a:spcPts val="452"/>
                </a:spcBef>
                <a:spcAft>
                  <a:spcPts val="0"/>
                </a:spcAft>
                <a:buNone/>
              </a:pPr>
              <a:r>
                <a:rPr lang="en-GB" sz="108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Multimodal: Signals that multiple distinct underlying models/processes are at play.</a:t>
              </a:r>
              <a:endParaRPr sz="10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40"/>
            <p:cNvSpPr txBox="1"/>
            <p:nvPr/>
          </p:nvSpPr>
          <p:spPr>
            <a:xfrm>
              <a:off x="5686600" y="851850"/>
              <a:ext cx="2727900" cy="5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2725" lIns="82725" spcFirstLastPara="1" rIns="82725" wrap="square" tIns="827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8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 (Symmetric): Predict average values with very high confidence</a:t>
              </a:r>
              <a:endParaRPr sz="10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9" name="Google Shape;379;p40"/>
          <p:cNvGrpSpPr/>
          <p:nvPr/>
        </p:nvGrpSpPr>
        <p:grpSpPr>
          <a:xfrm>
            <a:off x="482550" y="4437269"/>
            <a:ext cx="8178900" cy="738840"/>
            <a:chOff x="482075" y="4612925"/>
            <a:chExt cx="8178900" cy="497100"/>
          </a:xfrm>
        </p:grpSpPr>
        <p:sp>
          <p:nvSpPr>
            <p:cNvPr id="380" name="Google Shape;380;p40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 txBox="1"/>
            <p:nvPr/>
          </p:nvSpPr>
          <p:spPr>
            <a:xfrm>
              <a:off x="482075" y="4612925"/>
              <a:ext cx="81789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 multimodal distribution is almost always a red flag that you have a hidden categorical confounding variable. Isolate and segment it before modeling.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82" name="Google Shape;382;p40"/>
          <p:cNvSpPr txBox="1"/>
          <p:nvPr/>
        </p:nvSpPr>
        <p:spPr>
          <a:xfrm>
            <a:off x="552125" y="658675"/>
            <a:ext cx="810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!= understanding; Raw values only documents the past; mathematical shape dictates the likelihood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future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3" name="Google Shape;383;p40"/>
          <p:cNvCxnSpPr/>
          <p:nvPr/>
        </p:nvCxnSpPr>
        <p:spPr>
          <a:xfrm flipH="1">
            <a:off x="3229975" y="2280850"/>
            <a:ext cx="471900" cy="1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40"/>
          <p:cNvCxnSpPr/>
          <p:nvPr/>
        </p:nvCxnSpPr>
        <p:spPr>
          <a:xfrm flipH="1">
            <a:off x="3785700" y="2823075"/>
            <a:ext cx="471900" cy="1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40"/>
          <p:cNvSpPr txBox="1"/>
          <p:nvPr/>
        </p:nvSpPr>
        <p:spPr>
          <a:xfrm>
            <a:off x="3701875" y="2031975"/>
            <a:ext cx="13473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Frequency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Events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4154625" y="2571750"/>
            <a:ext cx="13473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Rare, Highly Impactful events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7" name="Google Shape;387;p4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66065" t="6760"/>
          <a:stretch/>
        </p:blipFill>
        <p:spPr>
          <a:xfrm>
            <a:off x="1001650" y="928875"/>
            <a:ext cx="1771873" cy="110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0">
            <a:hlinkClick r:id="rId7"/>
          </p:cNvPr>
          <p:cNvPicPr preferRelativeResize="0"/>
          <p:nvPr/>
        </p:nvPicPr>
        <p:blipFill rotWithShape="1">
          <a:blip r:embed="rId6">
            <a:alphaModFix/>
          </a:blip>
          <a:srcRect b="0" l="33656" r="33199" t="7724"/>
          <a:stretch/>
        </p:blipFill>
        <p:spPr>
          <a:xfrm>
            <a:off x="946550" y="2067375"/>
            <a:ext cx="1826975" cy="110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0">
            <a:hlinkClick r:id="rId8"/>
          </p:cNvPr>
          <p:cNvPicPr preferRelativeResize="0"/>
          <p:nvPr/>
        </p:nvPicPr>
        <p:blipFill rotWithShape="1">
          <a:blip r:embed="rId6">
            <a:alphaModFix/>
          </a:blip>
          <a:srcRect b="0" l="66771" r="0" t="8408"/>
          <a:stretch/>
        </p:blipFill>
        <p:spPr>
          <a:xfrm>
            <a:off x="859625" y="3205875"/>
            <a:ext cx="1913902" cy="11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41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395" name="Google Shape;395;p41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396" name="Google Shape;396;p41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Analytical Core: Finding the best Fitting - Distribution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97" name="Google Shape;397;p41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398" name="Google Shape;39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" name="Google Shape;399;p41"/>
          <p:cNvGrpSpPr/>
          <p:nvPr/>
        </p:nvGrpSpPr>
        <p:grpSpPr>
          <a:xfrm>
            <a:off x="482550" y="4437269"/>
            <a:ext cx="8178900" cy="738840"/>
            <a:chOff x="482075" y="4612925"/>
            <a:chExt cx="8178900" cy="497100"/>
          </a:xfrm>
        </p:grpSpPr>
        <p:sp>
          <p:nvSpPr>
            <p:cNvPr id="400" name="Google Shape;400;p41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1"/>
            <p:cNvSpPr txBox="1"/>
            <p:nvPr/>
          </p:nvSpPr>
          <p:spPr>
            <a:xfrm>
              <a:off x="482075" y="4612925"/>
              <a:ext cx="81789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Never skip Step 1. Automated algorithms might mathematically fit a unimodal normal curve to your data, completely blinding you to the fact that your underlying data is fundamentally bimodal.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2" name="Google Shape;402;p41"/>
          <p:cNvGrpSpPr/>
          <p:nvPr/>
        </p:nvGrpSpPr>
        <p:grpSpPr>
          <a:xfrm>
            <a:off x="573968" y="1284887"/>
            <a:ext cx="8087922" cy="2717638"/>
            <a:chOff x="373375" y="1092200"/>
            <a:chExt cx="8661300" cy="2910300"/>
          </a:xfrm>
        </p:grpSpPr>
        <p:sp>
          <p:nvSpPr>
            <p:cNvPr id="403" name="Google Shape;403;p41"/>
            <p:cNvSpPr txBox="1"/>
            <p:nvPr/>
          </p:nvSpPr>
          <p:spPr>
            <a:xfrm>
              <a:off x="373375" y="1092200"/>
              <a:ext cx="1422300" cy="2910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5375" lIns="85375" spcFirstLastPara="1" rIns="85375" wrap="square" tIns="8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1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Visual Inspection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(First Look)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plots to get an initial sense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p41"/>
            <p:cNvSpPr txBox="1"/>
            <p:nvPr/>
          </p:nvSpPr>
          <p:spPr>
            <a:xfrm>
              <a:off x="2183125" y="1092200"/>
              <a:ext cx="1422300" cy="2910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5375" lIns="85375" spcFirstLastPara="1" rIns="85375" wrap="square" tIns="8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2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Fit Common Distribution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scipy.stats to fit multiple candidate distributions: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41"/>
            <p:cNvSpPr txBox="1"/>
            <p:nvPr/>
          </p:nvSpPr>
          <p:spPr>
            <a:xfrm>
              <a:off x="3992875" y="1092200"/>
              <a:ext cx="1422300" cy="2910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5375" lIns="85375" spcFirstLastPara="1" rIns="85375" wrap="square" tIns="8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3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Goodness-of-Fit Tests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Kolmogorov–Smirnov (K-S) Test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41"/>
            <p:cNvSpPr txBox="1"/>
            <p:nvPr/>
          </p:nvSpPr>
          <p:spPr>
            <a:xfrm>
              <a:off x="5802625" y="1092200"/>
              <a:ext cx="1422300" cy="2910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5375" lIns="85375" spcFirstLastPara="1" rIns="85375" wrap="square" tIns="8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4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Q-Q (Quantile-Quantile Plot)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Check linearity between theoretical &amp; empirical quantiles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41"/>
            <p:cNvSpPr txBox="1"/>
            <p:nvPr/>
          </p:nvSpPr>
          <p:spPr>
            <a:xfrm>
              <a:off x="7612375" y="1092200"/>
              <a:ext cx="1422300" cy="2910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5375" lIns="85375" spcFirstLastPara="1" rIns="85375" wrap="square" tIns="8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Step 5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 Distribution Fitting Libraries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Try the fitter package for automated comparison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8" name="Google Shape;408;p41"/>
            <p:cNvCxnSpPr>
              <a:stCxn id="403" idx="3"/>
              <a:endCxn id="404" idx="1"/>
            </p:cNvCxnSpPr>
            <p:nvPr/>
          </p:nvCxnSpPr>
          <p:spPr>
            <a:xfrm>
              <a:off x="1795675" y="2547350"/>
              <a:ext cx="387300" cy="0"/>
            </a:xfrm>
            <a:prstGeom prst="straightConnector1">
              <a:avLst/>
            </a:prstGeom>
            <a:noFill/>
            <a:ln cap="flat" cmpd="sng" w="89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9" name="Google Shape;409;p41"/>
            <p:cNvCxnSpPr/>
            <p:nvPr/>
          </p:nvCxnSpPr>
          <p:spPr>
            <a:xfrm>
              <a:off x="3604773" y="2547350"/>
              <a:ext cx="387600" cy="0"/>
            </a:xfrm>
            <a:prstGeom prst="straightConnector1">
              <a:avLst/>
            </a:prstGeom>
            <a:noFill/>
            <a:ln cap="flat" cmpd="sng" w="89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0" name="Google Shape;410;p41"/>
            <p:cNvCxnSpPr/>
            <p:nvPr/>
          </p:nvCxnSpPr>
          <p:spPr>
            <a:xfrm>
              <a:off x="5415098" y="2547350"/>
              <a:ext cx="387600" cy="0"/>
            </a:xfrm>
            <a:prstGeom prst="straightConnector1">
              <a:avLst/>
            </a:prstGeom>
            <a:noFill/>
            <a:ln cap="flat" cmpd="sng" w="89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1" name="Google Shape;411;p41"/>
            <p:cNvCxnSpPr/>
            <p:nvPr/>
          </p:nvCxnSpPr>
          <p:spPr>
            <a:xfrm>
              <a:off x="7224923" y="2501700"/>
              <a:ext cx="387600" cy="0"/>
            </a:xfrm>
            <a:prstGeom prst="straightConnector1">
              <a:avLst/>
            </a:prstGeom>
            <a:noFill/>
            <a:ln cap="flat" cmpd="sng" w="89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412" name="Google Shape;412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0363" y="1615172"/>
              <a:ext cx="668325" cy="423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4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20814" y="1484921"/>
              <a:ext cx="546911" cy="55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4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30575" y="1484925"/>
              <a:ext cx="546900" cy="540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4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40325" y="1504900"/>
              <a:ext cx="546900" cy="513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4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50075" y="1556525"/>
              <a:ext cx="546900" cy="540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41"/>
          <p:cNvSpPr txBox="1"/>
          <p:nvPr/>
        </p:nvSpPr>
        <p:spPr>
          <a:xfrm>
            <a:off x="573975" y="810375"/>
            <a:ext cx="599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5-Step Distribution Fitting Framework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42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23" name="Google Shape;423;p42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424" name="Google Shape;424;p42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1: Visual Inspection ( The First Look)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25" name="Google Shape;425;p42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26" name="Google Shape;42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7" name="Google Shape;427;p42"/>
          <p:cNvSpPr txBox="1"/>
          <p:nvPr/>
        </p:nvSpPr>
        <p:spPr>
          <a:xfrm>
            <a:off x="482475" y="1240975"/>
            <a:ext cx="300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an initial sense of the data's shape and spread.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histograms, box plots, or density plots. Identify skewness, modality, and outliers.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4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5865"/>
          <a:stretch/>
        </p:blipFill>
        <p:spPr>
          <a:xfrm>
            <a:off x="3707400" y="1437500"/>
            <a:ext cx="5436600" cy="2234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43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34" name="Google Shape;434;p43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435" name="Google Shape;435;p43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2: Fitting Common Distributions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36" name="Google Shape;436;p43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37" name="Google Shape;437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p43"/>
          <p:cNvSpPr txBox="1"/>
          <p:nvPr/>
        </p:nvSpPr>
        <p:spPr>
          <a:xfrm>
            <a:off x="482475" y="1240975"/>
            <a:ext cx="30000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fitting known distributions to the data.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scipy.stats to fit and extract parameters.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9" name="Google Shape;439;p4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7236"/>
          <a:stretch/>
        </p:blipFill>
        <p:spPr>
          <a:xfrm>
            <a:off x="3634875" y="1002500"/>
            <a:ext cx="5356725" cy="31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44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45" name="Google Shape;445;p44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446" name="Google Shape;446;p44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3: Goodness-of-Fit Tests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47" name="Google Shape;447;p44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48" name="Google Shape;44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9" name="Google Shape;449;p44"/>
          <p:cNvSpPr txBox="1"/>
          <p:nvPr/>
        </p:nvSpPr>
        <p:spPr>
          <a:xfrm>
            <a:off x="482475" y="1240975"/>
            <a:ext cx="300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how well a theoretical distribution matches data.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Tests: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Kolmogorov–Smirnov (K–S) Test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Anderson–Darling Test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 Test.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45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55" name="Google Shape;455;p45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456" name="Google Shape;456;p45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4: Q-Q (Quantile-Quantile) Plot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57" name="Google Shape;457;p45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58" name="Google Shape;4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45"/>
          <p:cNvSpPr txBox="1"/>
          <p:nvPr/>
        </p:nvSpPr>
        <p:spPr>
          <a:xfrm>
            <a:off x="482475" y="1240975"/>
            <a:ext cx="30000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quantiles of the sample vs. theoretical distribution.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points lie on the 45° line, the fit is good.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0" name="Google Shape;460;p4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10031"/>
          <a:stretch/>
        </p:blipFill>
        <p:spPr>
          <a:xfrm>
            <a:off x="3634875" y="1190000"/>
            <a:ext cx="5356727" cy="234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46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66" name="Google Shape;466;p46"/>
            <p:cNvGrpSpPr/>
            <p:nvPr/>
          </p:nvGrpSpPr>
          <p:grpSpPr>
            <a:xfrm>
              <a:off x="481600" y="260739"/>
              <a:ext cx="6216244" cy="553500"/>
              <a:chOff x="481600" y="260739"/>
              <a:chExt cx="6216244" cy="553500"/>
            </a:xfrm>
          </p:grpSpPr>
          <p:sp>
            <p:nvSpPr>
              <p:cNvPr id="467" name="Google Shape;467;p46"/>
              <p:cNvSpPr txBox="1"/>
              <p:nvPr/>
            </p:nvSpPr>
            <p:spPr>
              <a:xfrm>
                <a:off x="483344" y="260739"/>
                <a:ext cx="62145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Step 5: Use Distribution Fitting Libraries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68" name="Google Shape;468;p46"/>
              <p:cNvCxnSpPr/>
              <p:nvPr/>
            </p:nvCxnSpPr>
            <p:spPr>
              <a:xfrm flipH="1" rot="10800000">
                <a:off x="481600" y="639404"/>
                <a:ext cx="5586600" cy="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69" name="Google Shape;46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46"/>
          <p:cNvSpPr txBox="1"/>
          <p:nvPr/>
        </p:nvSpPr>
        <p:spPr>
          <a:xfrm>
            <a:off x="482475" y="1240975"/>
            <a:ext cx="3000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automated tools to compare many distributions efficiently.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Fitter distfit, scikit-gof.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1" name="Google Shape;471;p4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10266"/>
          <a:stretch/>
        </p:blipFill>
        <p:spPr>
          <a:xfrm>
            <a:off x="3482475" y="1332500"/>
            <a:ext cx="5482800" cy="221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47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77" name="Google Shape;477;p47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478" name="Google Shape;478;p47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Predicting Extremes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79" name="Google Shape;479;p47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80" name="Google Shape;480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1" name="Google Shape;481;p47"/>
          <p:cNvGrpSpPr/>
          <p:nvPr/>
        </p:nvGrpSpPr>
        <p:grpSpPr>
          <a:xfrm>
            <a:off x="482550" y="4437269"/>
            <a:ext cx="8178900" cy="1000577"/>
            <a:chOff x="482075" y="4612925"/>
            <a:chExt cx="8178900" cy="673200"/>
          </a:xfrm>
        </p:grpSpPr>
        <p:sp>
          <p:nvSpPr>
            <p:cNvPr id="482" name="Google Shape;482;p47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7"/>
            <p:cNvSpPr txBox="1"/>
            <p:nvPr/>
          </p:nvSpPr>
          <p:spPr>
            <a:xfrm>
              <a:off x="482075" y="4612925"/>
              <a:ext cx="8178900" cy="6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inverse CDF is arguably the most powerful tool in prescriptive analytics. It shifts the question from “What is the probability of a flood?” to the actionable “How high must the wall be to survive a 1-in-100 year event?”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84" name="Google Shape;484;p47"/>
          <p:cNvSpPr txBox="1"/>
          <p:nvPr/>
        </p:nvSpPr>
        <p:spPr>
          <a:xfrm>
            <a:off x="552125" y="658675"/>
            <a:ext cx="810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Distribution  with a well-defined inverse CDF (quantile function) can be inverted to predict rare or extreme events like: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Extremes ( flood, heatwaves)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Finance (losses)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(Maximum structural load capacity)</a:t>
            </a:r>
            <a:b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Unlocks </a:t>
            </a:r>
            <a:r>
              <a:rPr b="1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Level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Period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5" name="Google Shape;48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500" y="2357325"/>
            <a:ext cx="2049425" cy="1276050"/>
          </a:xfrm>
          <a:prstGeom prst="rect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6" name="Google Shape;48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1375" y="2372575"/>
            <a:ext cx="1980100" cy="1280786"/>
          </a:xfrm>
          <a:prstGeom prst="rect">
            <a:avLst/>
          </a:prstGeom>
          <a:noFill/>
          <a:ln cap="flat" cmpd="sng" w="19050">
            <a:solidFill>
              <a:srgbClr val="2A4E7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7" name="Google Shape;487;p47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49431" t="10634"/>
          <a:stretch/>
        </p:blipFill>
        <p:spPr>
          <a:xfrm>
            <a:off x="6512400" y="992575"/>
            <a:ext cx="1980102" cy="136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7">
            <a:hlinkClick r:id="rId8"/>
          </p:cNvPr>
          <p:cNvPicPr preferRelativeResize="0"/>
          <p:nvPr/>
        </p:nvPicPr>
        <p:blipFill rotWithShape="1">
          <a:blip r:embed="rId7">
            <a:alphaModFix/>
          </a:blip>
          <a:srcRect b="0" l="50937" r="0" t="12204"/>
          <a:stretch/>
        </p:blipFill>
        <p:spPr>
          <a:xfrm>
            <a:off x="6512400" y="2312325"/>
            <a:ext cx="1925626" cy="168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48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494" name="Google Shape;494;p48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495" name="Google Shape;495;p48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Predicting Extremes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96" name="Google Shape;496;p48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497" name="Google Shape;497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8" name="Google Shape;498;p48"/>
          <p:cNvGrpSpPr/>
          <p:nvPr/>
        </p:nvGrpSpPr>
        <p:grpSpPr>
          <a:xfrm>
            <a:off x="482550" y="4437269"/>
            <a:ext cx="8178900" cy="1262315"/>
            <a:chOff x="482075" y="4612925"/>
            <a:chExt cx="8178900" cy="849300"/>
          </a:xfrm>
        </p:grpSpPr>
        <p:sp>
          <p:nvSpPr>
            <p:cNvPr id="499" name="Google Shape;499;p48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8"/>
            <p:cNvSpPr txBox="1"/>
            <p:nvPr/>
          </p:nvSpPr>
          <p:spPr>
            <a:xfrm>
              <a:off x="482075" y="4612925"/>
              <a:ext cx="81789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Inverse Cumulative Distribution Functions (ICDFs) are your ultimate bridge from abstract probability theory to concrete, actionable thresholds in risk management.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501" name="Google Shape;501;p4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10992"/>
          <a:stretch/>
        </p:blipFill>
        <p:spPr>
          <a:xfrm>
            <a:off x="4739250" y="1496537"/>
            <a:ext cx="3795374" cy="25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75" y="1445714"/>
            <a:ext cx="3086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475" y="2193727"/>
            <a:ext cx="33337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2550" y="882938"/>
            <a:ext cx="5897350" cy="4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2475" y="3317675"/>
            <a:ext cx="2775312" cy="5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3438" y="3864674"/>
            <a:ext cx="31718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8"/>
          <p:cNvSpPr txBox="1"/>
          <p:nvPr/>
        </p:nvSpPr>
        <p:spPr>
          <a:xfrm>
            <a:off x="482475" y="533400"/>
            <a:ext cx="748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annual maximum daily PM</a:t>
            </a:r>
            <a:r>
              <a:rPr baseline="-25000" lang="en-GB" sz="11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</a:t>
            </a:r>
            <a:r>
              <a:rPr lang="en-GB" sz="11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concentration in a region follows a normal distribution with:</a:t>
            </a:r>
            <a:endParaRPr sz="1100">
              <a:solidFill>
                <a:srgbClr val="1A1A2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49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513" name="Google Shape;513;p49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514" name="Google Shape;514;p49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Predicting Extremes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15" name="Google Shape;515;p49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516" name="Google Shape;51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49"/>
          <p:cNvGrpSpPr/>
          <p:nvPr/>
        </p:nvGrpSpPr>
        <p:grpSpPr>
          <a:xfrm>
            <a:off x="482550" y="4437285"/>
            <a:ext cx="8178900" cy="559556"/>
            <a:chOff x="482075" y="4612936"/>
            <a:chExt cx="8178900" cy="376476"/>
          </a:xfrm>
        </p:grpSpPr>
        <p:sp>
          <p:nvSpPr>
            <p:cNvPr id="518" name="Google Shape;518;p49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9"/>
            <p:cNvSpPr txBox="1"/>
            <p:nvPr/>
          </p:nvSpPr>
          <p:spPr>
            <a:xfrm>
              <a:off x="482075" y="4616512"/>
              <a:ext cx="8100300" cy="3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Spatial distribution models (like Kriging combined with Extreme Value Theory) allow you to interpolate probability maps between physical sensor locations, turning point-data into comprehensive regional intelligence.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20" name="Google Shape;520;p49"/>
          <p:cNvSpPr txBox="1"/>
          <p:nvPr/>
        </p:nvSpPr>
        <p:spPr>
          <a:xfrm>
            <a:off x="482550" y="683050"/>
            <a:ext cx="35022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maps on the right, the single-station 50-year return level idea is extended spatially across an entire region and multiple future years.</a:t>
            </a:r>
            <a:endParaRPr sz="1200">
              <a:solidFill>
                <a:srgbClr val="1A1A2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each grid cell, Normal distribution parameters (μ, σ) are estimated from observed annual maxima, projected forward with a climate trend, and the return level  x₅₀ = μ + σ·z₀.₉₈  is computed.</a:t>
            </a:r>
            <a:endParaRPr sz="1200">
              <a:solidFill>
                <a:srgbClr val="1A1A2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Warmer colors (orange → deep red) indicate higher extreme PM2.5. Progressive darkening over time reflects worsening pollution under the trend scenario.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1" name="Google Shape;52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211" y="3666325"/>
            <a:ext cx="2512625" cy="6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5801" y="683050"/>
            <a:ext cx="3397432" cy="29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50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528" name="Google Shape;528;p50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529" name="Google Shape;529;p50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Universal Key: Inverse CDF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30" name="Google Shape;530;p50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531" name="Google Shape;531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2" name="Google Shape;532;p50"/>
          <p:cNvGrpSpPr/>
          <p:nvPr/>
        </p:nvGrpSpPr>
        <p:grpSpPr>
          <a:xfrm>
            <a:off x="482550" y="4437269"/>
            <a:ext cx="8178900" cy="1262315"/>
            <a:chOff x="482075" y="4612925"/>
            <a:chExt cx="8178900" cy="849300"/>
          </a:xfrm>
        </p:grpSpPr>
        <p:sp>
          <p:nvSpPr>
            <p:cNvPr id="533" name="Google Shape;533;p50"/>
            <p:cNvSpPr/>
            <p:nvPr/>
          </p:nvSpPr>
          <p:spPr>
            <a:xfrm>
              <a:off x="482075" y="4612936"/>
              <a:ext cx="8178900" cy="369300"/>
            </a:xfrm>
            <a:prstGeom prst="rect">
              <a:avLst/>
            </a:prstGeom>
            <a:solidFill>
              <a:srgbClr val="F2ECE0"/>
            </a:solidFill>
            <a:ln cap="flat" cmpd="sng" w="9525">
              <a:solidFill>
                <a:srgbClr val="C796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0"/>
            <p:cNvSpPr txBox="1"/>
            <p:nvPr/>
          </p:nvSpPr>
          <p:spPr>
            <a:xfrm>
              <a:off x="482075" y="4612925"/>
              <a:ext cx="8178900" cy="8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Pro-Tip: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Python’s</a:t>
              </a: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SciPy library, the . pp:f()  (Percent Point Function) is your programmatic inverse CDF. Mastering it allows you to dynamically generate robust confidence intervals for virtually any stochastic process.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177800" marR="165100" rtl="0" algn="l">
                <a:lnSpc>
                  <a:spcPct val="87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35" name="Google Shape;535;p50"/>
          <p:cNvSpPr txBox="1"/>
          <p:nvPr/>
        </p:nvSpPr>
        <p:spPr>
          <a:xfrm>
            <a:off x="482550" y="650475"/>
            <a:ext cx="81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127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Rule: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Prediction </a:t>
            </a:r>
            <a:r>
              <a:rPr lang="en-GB" sz="1200">
                <a:solidFill>
                  <a:srgbClr val="0E00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restricted to one distribution; ANY invertible distribution unlocks quantile forecasting.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6" name="Google Shape;536;p50"/>
          <p:cNvGraphicFramePr/>
          <p:nvPr/>
        </p:nvGraphicFramePr>
        <p:xfrm>
          <a:off x="307500" y="122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{D2F7691F-B026-49A2-8D5C-FD015D750C43}</a:tableStyleId>
              </a:tblPr>
              <a:tblGrid>
                <a:gridCol w="1695500"/>
                <a:gridCol w="1695500"/>
                <a:gridCol w="1695500"/>
              </a:tblGrid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 natural processes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norm.ppf, norm.cdf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Exponential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between events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expon.ppf, expon.cdf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Gumbel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Extremes (e.g. max rainfall)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gumbel_r.ppf, gumbel_r.cdf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GEV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Generalized extremes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genextreme.ppf, genextreme.cdf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Lognormal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Skewed data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lognorm.ppf, lognorm.cdf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0525" marB="40525" marR="81150" marL="8115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7" name="Google Shape;537;p50"/>
          <p:cNvSpPr txBox="1"/>
          <p:nvPr/>
        </p:nvSpPr>
        <p:spPr>
          <a:xfrm>
            <a:off x="482550" y="3891363"/>
            <a:ext cx="817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➢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You’re not restricted to just GEV — 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distribution with inverse CDF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used for prediction!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8" name="Google Shape;538;p5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32904" t="9812"/>
          <a:stretch/>
        </p:blipFill>
        <p:spPr>
          <a:xfrm>
            <a:off x="5710000" y="1019775"/>
            <a:ext cx="3318400" cy="155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0">
            <a:hlinkClick r:id="rId6"/>
          </p:cNvPr>
          <p:cNvPicPr preferRelativeResize="0"/>
          <p:nvPr/>
        </p:nvPicPr>
        <p:blipFill rotWithShape="1">
          <a:blip r:embed="rId5">
            <a:alphaModFix/>
          </a:blip>
          <a:srcRect b="0" l="66602" r="0" t="10706"/>
          <a:stretch/>
        </p:blipFill>
        <p:spPr>
          <a:xfrm>
            <a:off x="6285450" y="2571750"/>
            <a:ext cx="2167501" cy="13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51"/>
          <p:cNvGrpSpPr/>
          <p:nvPr/>
        </p:nvGrpSpPr>
        <p:grpSpPr>
          <a:xfrm>
            <a:off x="482481" y="151675"/>
            <a:ext cx="8179038" cy="553500"/>
            <a:chOff x="481600" y="260739"/>
            <a:chExt cx="8179038" cy="553500"/>
          </a:xfrm>
        </p:grpSpPr>
        <p:grpSp>
          <p:nvGrpSpPr>
            <p:cNvPr id="545" name="Google Shape;545;p51"/>
            <p:cNvGrpSpPr/>
            <p:nvPr/>
          </p:nvGrpSpPr>
          <p:grpSpPr>
            <a:xfrm>
              <a:off x="481600" y="260739"/>
              <a:ext cx="3670444" cy="553500"/>
              <a:chOff x="481600" y="260739"/>
              <a:chExt cx="3670444" cy="553500"/>
            </a:xfrm>
          </p:grpSpPr>
          <p:sp>
            <p:nvSpPr>
              <p:cNvPr id="546" name="Google Shape;546;p51"/>
              <p:cNvSpPr txBox="1"/>
              <p:nvPr/>
            </p:nvSpPr>
            <p:spPr>
              <a:xfrm>
                <a:off x="483344" y="260739"/>
                <a:ext cx="3668700" cy="5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rm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GB" sz="1800">
                    <a:solidFill>
                      <a:srgbClr val="274A6E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Summary</a:t>
                </a:r>
                <a:endParaRPr b="0" i="0" sz="1800" u="none" cap="none" strike="noStrike">
                  <a:solidFill>
                    <a:srgbClr val="274A6E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47" name="Google Shape;547;p51"/>
              <p:cNvCxnSpPr/>
              <p:nvPr/>
            </p:nvCxnSpPr>
            <p:spPr>
              <a:xfrm flipH="1" rot="10800000">
                <a:off x="481600" y="643604"/>
                <a:ext cx="3668700" cy="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A4E7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548" name="Google Shape;54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51062" y="260750"/>
              <a:ext cx="609576" cy="4888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9" name="Google Shape;549;p51"/>
          <p:cNvSpPr txBox="1"/>
          <p:nvPr/>
        </p:nvSpPr>
        <p:spPr>
          <a:xfrm>
            <a:off x="482400" y="1159800"/>
            <a:ext cx="8179200" cy="24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Quantifying </a:t>
            </a:r>
            <a:r>
              <a:rPr b="1" lang="en-GB" sz="12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GB" sz="12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</a:t>
            </a:r>
            <a:endParaRPr b="1" sz="1200">
              <a:solidFill>
                <a:srgbClr val="0A0A0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provides the exact mathematical language needed to quantify uncertainty.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100"/>
              </a:spcBef>
              <a:spcAft>
                <a:spcPts val="0"/>
              </a:spcAft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</a:t>
            </a:r>
            <a:r>
              <a:rPr b="1" lang="en-GB" sz="12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b="1" lang="en-GB" sz="12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Reality</a:t>
            </a:r>
            <a:endParaRPr b="1" sz="1200">
              <a:solidFill>
                <a:srgbClr val="05050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measurable variable  from human height to market income to regional rainfall possesses an inherent shape.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1200"/>
              <a:buFont typeface="Times New Roman"/>
              <a:buChar char="➢"/>
            </a:pPr>
            <a:r>
              <a:rPr b="1" lang="en-GB" sz="1200">
                <a:solidFill>
                  <a:srgbClr val="0A0A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Revealing </a:t>
            </a:r>
            <a:r>
              <a:rPr b="1" lang="en-GB" sz="120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GB" sz="1200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</a:t>
            </a:r>
            <a:endParaRPr b="1" sz="1200">
              <a:solidFill>
                <a:srgbClr val="05050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correctly fitting a distribution to raw data, we expose underlying behavioral and systemic patterns that are invisible to the naked eye.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2"/>
          <p:cNvSpPr txBox="1"/>
          <p:nvPr/>
        </p:nvSpPr>
        <p:spPr>
          <a:xfrm>
            <a:off x="7739062" y="349438"/>
            <a:ext cx="9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2"/>
          <p:cNvSpPr txBox="1"/>
          <p:nvPr/>
        </p:nvSpPr>
        <p:spPr>
          <a:xfrm>
            <a:off x="1923600" y="2048400"/>
            <a:ext cx="529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1" lang="en-GB" sz="3600" u="none" cap="none" strike="noStrike">
                <a:solidFill>
                  <a:srgbClr val="2A4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GB" sz="2000" u="none" cap="none" strike="noStrike">
                <a:solidFill>
                  <a:srgbClr val="2A4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Discussion</a:t>
            </a:r>
            <a:endParaRPr b="0" i="1" sz="2000" u="none" cap="none" strike="noStrike">
              <a:solidFill>
                <a:srgbClr val="2A4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